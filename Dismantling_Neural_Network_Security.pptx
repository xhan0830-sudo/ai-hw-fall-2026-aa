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723" autoAdjust="0"/>
    <p:restoredTop sz="94384" autoAdjust="0"/>
  </p:normalViewPr>
  <p:slideViewPr>
    <p:cSldViewPr>
      <p:cViewPr varScale="1">
        <p:scale>
          <a:sx n="90" d="100"/>
          <a:sy n="90" d="100"/>
        </p:scale>
        <p:origin x="408"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13C4CD-9A5F-DC4F-9765-C1C840ED0A1F}" type="datetimeFigureOut">
              <a:rPr lang="en-US" smtClean="0"/>
              <a:t>8/22/26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44D7FE-7A0B-8C45-BAEB-1159C74029F5}" type="slidenum">
              <a:rPr lang="en-US" smtClean="0"/>
              <a:t>‹#›</a:t>
            </a:fld>
            <a:endParaRPr lang="en-US"/>
          </a:p>
        </p:txBody>
      </p:sp>
    </p:spTree>
    <p:extLst>
      <p:ext uri="{BB962C8B-B14F-4D97-AF65-F5344CB8AC3E}">
        <p14:creationId xmlns:p14="http://schemas.microsoft.com/office/powerpoint/2010/main" val="1147281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"Hey everyone. Today we're looking at neural network security—specifically, how easy it is to trick a standard convolutional neural network on MNIST using </a:t>
            </a:r>
            <a:r>
              <a:rPr lang="en-US" sz="1200" b="0" i="0" kern="1200" dirty="0" err="1">
                <a:solidFill>
                  <a:schemeClr val="tx1"/>
                </a:solidFill>
                <a:effectLst/>
                <a:latin typeface="+mn-lt"/>
                <a:ea typeface="+mn-ea"/>
                <a:cs typeface="+mn-cs"/>
              </a:rPr>
              <a:t>PyTorch</a:t>
            </a:r>
            <a:r>
              <a:rPr lang="en-US" sz="1200" b="0" i="0" kern="1200" dirty="0">
                <a:solidFill>
                  <a:schemeClr val="tx1"/>
                </a:solidFill>
                <a:effectLst/>
                <a:latin typeface="+mn-lt"/>
                <a:ea typeface="+mn-ea"/>
                <a:cs typeface="+mn-cs"/>
              </a:rPr>
              <a:t>."</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1</a:t>
            </a:fld>
            <a:endParaRPr lang="en-US"/>
          </a:p>
        </p:txBody>
      </p:sp>
    </p:spTree>
    <p:extLst>
      <p:ext uri="{BB962C8B-B14F-4D97-AF65-F5344CB8AC3E}">
        <p14:creationId xmlns:p14="http://schemas.microsoft.com/office/powerpoint/2010/main" val="1042656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"We can think of this study in three parts. First, </a:t>
            </a:r>
            <a:r>
              <a:rPr lang="en-US" sz="1200" b="1" i="0" kern="1200" dirty="0">
                <a:solidFill>
                  <a:schemeClr val="tx1"/>
                </a:solidFill>
                <a:effectLst/>
                <a:latin typeface="+mn-lt"/>
                <a:ea typeface="+mn-ea"/>
                <a:cs typeface="+mn-cs"/>
              </a:rPr>
              <a:t>The Fortress</a:t>
            </a:r>
            <a:r>
              <a:rPr lang="en-US" sz="1200" b="0" i="0" kern="1200" dirty="0">
                <a:solidFill>
                  <a:schemeClr val="tx1"/>
                </a:solidFill>
                <a:effectLst/>
                <a:latin typeface="+mn-lt"/>
                <a:ea typeface="+mn-ea"/>
                <a:cs typeface="+mn-cs"/>
              </a:rPr>
              <a:t>—our highly accurate model. Second, </a:t>
            </a:r>
            <a:r>
              <a:rPr lang="en-US" sz="1200" b="1" i="0" kern="1200" dirty="0">
                <a:solidFill>
                  <a:schemeClr val="tx1"/>
                </a:solidFill>
                <a:effectLst/>
                <a:latin typeface="+mn-lt"/>
                <a:ea typeface="+mn-ea"/>
                <a:cs typeface="+mn-cs"/>
              </a:rPr>
              <a:t>The Arsenal</a:t>
            </a:r>
            <a:r>
              <a:rPr lang="en-US" sz="1200" b="0" i="0" kern="1200" dirty="0">
                <a:solidFill>
                  <a:schemeClr val="tx1"/>
                </a:solidFill>
                <a:effectLst/>
                <a:latin typeface="+mn-lt"/>
                <a:ea typeface="+mn-ea"/>
                <a:cs typeface="+mn-cs"/>
              </a:rPr>
              <a:t>—the framework we built to test it. And third, </a:t>
            </a:r>
            <a:r>
              <a:rPr lang="en-US" sz="1200" b="1" i="0" kern="1200" dirty="0">
                <a:solidFill>
                  <a:schemeClr val="tx1"/>
                </a:solidFill>
                <a:effectLst/>
                <a:latin typeface="+mn-lt"/>
                <a:ea typeface="+mn-ea"/>
                <a:cs typeface="+mn-cs"/>
              </a:rPr>
              <a:t>The Breach</a:t>
            </a:r>
            <a:r>
              <a:rPr lang="en-US" sz="1200" b="0" i="0" kern="1200" dirty="0">
                <a:solidFill>
                  <a:schemeClr val="tx1"/>
                </a:solidFill>
                <a:effectLst/>
                <a:latin typeface="+mn-lt"/>
                <a:ea typeface="+mn-ea"/>
                <a:cs typeface="+mn-cs"/>
              </a:rPr>
              <a:t>—how those attacks actually break our defenses."</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2</a:t>
            </a:fld>
            <a:endParaRPr lang="en-US"/>
          </a:p>
        </p:txBody>
      </p:sp>
    </p:spTree>
    <p:extLst>
      <p:ext uri="{BB962C8B-B14F-4D97-AF65-F5344CB8AC3E}">
        <p14:creationId xmlns:p14="http://schemas.microsoft.com/office/powerpoint/2010/main" val="2288074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"Here’s the model we're attacking. It’s a standard </a:t>
            </a:r>
            <a:r>
              <a:rPr lang="en-US" sz="1200" b="0" i="0" kern="1200" dirty="0" err="1">
                <a:solidFill>
                  <a:schemeClr val="tx1"/>
                </a:solidFill>
                <a:effectLst/>
                <a:latin typeface="+mn-lt"/>
                <a:ea typeface="+mn-ea"/>
                <a:cs typeface="+mn-cs"/>
              </a:rPr>
              <a:t>PyTorch</a:t>
            </a:r>
            <a:r>
              <a:rPr lang="en-US" sz="1200" b="0" i="0" kern="1200" dirty="0">
                <a:solidFill>
                  <a:schemeClr val="tx1"/>
                </a:solidFill>
                <a:effectLst/>
                <a:latin typeface="+mn-lt"/>
                <a:ea typeface="+mn-ea"/>
                <a:cs typeface="+mn-cs"/>
              </a:rPr>
              <a:t> CNN with two convolutional blocks to extract features, which we then flatten and feed into a basic two-layer classifier."</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3</a:t>
            </a:fld>
            <a:endParaRPr lang="en-US"/>
          </a:p>
        </p:txBody>
      </p:sp>
    </p:spTree>
    <p:extLst>
      <p:ext uri="{BB962C8B-B14F-4D97-AF65-F5344CB8AC3E}">
        <p14:creationId xmlns:p14="http://schemas.microsoft.com/office/powerpoint/2010/main" val="1364370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On normal, clean data, this model is a </a:t>
            </a:r>
            <a:r>
              <a:rPr lang="en-US" sz="1200" b="1" i="0" kern="1200" dirty="0">
                <a:solidFill>
                  <a:schemeClr val="tx1"/>
                </a:solidFill>
                <a:effectLst/>
                <a:latin typeface="+mn-lt"/>
                <a:ea typeface="+mn-ea"/>
                <a:cs typeface="+mn-cs"/>
              </a:rPr>
              <a:t>98.85% recognition rate</a:t>
            </a:r>
            <a:r>
              <a:rPr lang="en-US" sz="1200" b="0" i="0" kern="1200" dirty="0">
                <a:solidFill>
                  <a:schemeClr val="tx1"/>
                </a:solidFill>
                <a:effectLst/>
                <a:latin typeface="+mn-lt"/>
                <a:ea typeface="+mn-ea"/>
                <a:cs typeface="+mn-cs"/>
              </a:rPr>
              <a:t>. It feels safe, but as we're about to see, that security is actually pretty fragile."</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4</a:t>
            </a:fld>
            <a:endParaRPr lang="en-US"/>
          </a:p>
        </p:txBody>
      </p:sp>
    </p:spTree>
    <p:extLst>
      <p:ext uri="{BB962C8B-B14F-4D97-AF65-F5344CB8AC3E}">
        <p14:creationId xmlns:p14="http://schemas.microsoft.com/office/powerpoint/2010/main" val="12267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Our codebase is super clean and split into three core scripts. </a:t>
            </a:r>
            <a:r>
              <a:rPr lang="en-US" sz="1200" b="1" i="0" kern="1200" dirty="0" err="1">
                <a:solidFill>
                  <a:schemeClr val="tx1"/>
                </a:solidFill>
                <a:effectLst/>
                <a:latin typeface="+mn-lt"/>
                <a:ea typeface="+mn-ea"/>
                <a:cs typeface="+mn-cs"/>
              </a:rPr>
              <a:t>train.py</a:t>
            </a:r>
            <a:r>
              <a:rPr lang="en-US" sz="1200" b="0" i="0" kern="1200" dirty="0">
                <a:solidFill>
                  <a:schemeClr val="tx1"/>
                </a:solidFill>
                <a:effectLst/>
                <a:latin typeface="+mn-lt"/>
                <a:ea typeface="+mn-ea"/>
                <a:cs typeface="+mn-cs"/>
              </a:rPr>
              <a:t> builds the network, </a:t>
            </a:r>
            <a:r>
              <a:rPr lang="en-US" sz="1200" b="1" i="0" kern="1200" dirty="0" err="1">
                <a:solidFill>
                  <a:schemeClr val="tx1"/>
                </a:solidFill>
                <a:effectLst/>
                <a:latin typeface="+mn-lt"/>
                <a:ea typeface="+mn-ea"/>
                <a:cs typeface="+mn-cs"/>
              </a:rPr>
              <a:t>attacks.py</a:t>
            </a:r>
            <a:r>
              <a:rPr lang="en-US" sz="1200" b="0" i="0" kern="1200" dirty="0">
                <a:solidFill>
                  <a:schemeClr val="tx1"/>
                </a:solidFill>
                <a:effectLst/>
                <a:latin typeface="+mn-lt"/>
                <a:ea typeface="+mn-ea"/>
                <a:cs typeface="+mn-cs"/>
              </a:rPr>
              <a:t> generates the adversarial noise, and </a:t>
            </a:r>
            <a:r>
              <a:rPr lang="en-US" sz="1200" b="1" i="0" kern="1200" dirty="0" err="1">
                <a:solidFill>
                  <a:schemeClr val="tx1"/>
                </a:solidFill>
                <a:effectLst/>
                <a:latin typeface="+mn-lt"/>
                <a:ea typeface="+mn-ea"/>
                <a:cs typeface="+mn-cs"/>
              </a:rPr>
              <a:t>evaluate.py</a:t>
            </a:r>
            <a:r>
              <a:rPr lang="en-US" sz="1200" b="0" i="0" kern="1200" dirty="0">
                <a:solidFill>
                  <a:schemeClr val="tx1"/>
                </a:solidFill>
                <a:effectLst/>
                <a:latin typeface="+mn-lt"/>
                <a:ea typeface="+mn-ea"/>
                <a:cs typeface="+mn-cs"/>
              </a:rPr>
              <a:t> runs our final benchmarks."</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5</a:t>
            </a:fld>
            <a:endParaRPr lang="en-US"/>
          </a:p>
        </p:txBody>
      </p:sp>
    </p:spTree>
    <p:extLst>
      <p:ext uri="{BB962C8B-B14F-4D97-AF65-F5344CB8AC3E}">
        <p14:creationId xmlns:p14="http://schemas.microsoft.com/office/powerpoint/2010/main" val="24498217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"To make the attack realistic, we restrict our noise budget using a parameter called </a:t>
            </a:r>
            <a:r>
              <a:rPr lang="en-US" sz="1200" b="1" i="0" kern="1200" dirty="0">
                <a:solidFill>
                  <a:schemeClr val="tx1"/>
                </a:solidFill>
                <a:effectLst/>
                <a:latin typeface="+mn-lt"/>
                <a:ea typeface="+mn-ea"/>
                <a:cs typeface="+mn-cs"/>
              </a:rPr>
              <a:t>epsilon</a:t>
            </a:r>
            <a:r>
              <a:rPr lang="en-US" sz="1200" b="0" i="0" kern="1200" dirty="0">
                <a:solidFill>
                  <a:schemeClr val="tx1"/>
                </a:solidFill>
                <a:effectLst/>
                <a:latin typeface="+mn-lt"/>
                <a:ea typeface="+mn-ea"/>
                <a:cs typeface="+mn-cs"/>
              </a:rPr>
              <a:t>. The goal is to keep the mathematical changes small enough that humans can't see them, but big enough to completely confuse the model."</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6</a:t>
            </a:fld>
            <a:endParaRPr lang="en-US"/>
          </a:p>
        </p:txBody>
      </p:sp>
    </p:spTree>
    <p:extLst>
      <p:ext uri="{BB962C8B-B14F-4D97-AF65-F5344CB8AC3E}">
        <p14:creationId xmlns:p14="http://schemas.microsoft.com/office/powerpoint/2010/main" val="3115532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First up is FGSM. This is a quick, one-shot attack. It just calculates the gradient of our loss function once, takes the sign, and shifts the pixel values in that direction. Fast, but simple."</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7</a:t>
            </a:fld>
            <a:endParaRPr lang="en-US"/>
          </a:p>
        </p:txBody>
      </p:sp>
    </p:spTree>
    <p:extLst>
      <p:ext uri="{BB962C8B-B14F-4D97-AF65-F5344CB8AC3E}">
        <p14:creationId xmlns:p14="http://schemas.microsoft.com/office/powerpoint/2010/main" val="3547580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"PGD is much more aggressive. Instead of one big jump, it takes 40 small steps of size 0.01, checking the gradient at each step and projecting the image back to stay within our epsilon boundary."</a:t>
            </a:r>
          </a:p>
          <a:p>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8</a:t>
            </a:fld>
            <a:endParaRPr lang="en-US"/>
          </a:p>
        </p:txBody>
      </p:sp>
    </p:spTree>
    <p:extLst>
      <p:ext uri="{BB962C8B-B14F-4D97-AF65-F5344CB8AC3E}">
        <p14:creationId xmlns:p14="http://schemas.microsoft.com/office/powerpoint/2010/main" val="3757744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"MI-FGSM takes the iterative PGD approach and adds a momentum term. This keeps the optimization from getting stuck in local traps, giving the attack a lot more momentum to break the model's classifications."</a:t>
            </a:r>
          </a:p>
          <a:p>
            <a:br>
              <a:rPr lang="en-US" dirty="0"/>
            </a:br>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9</a:t>
            </a:fld>
            <a:endParaRPr lang="en-US"/>
          </a:p>
        </p:txBody>
      </p:sp>
    </p:spTree>
    <p:extLst>
      <p:ext uri="{BB962C8B-B14F-4D97-AF65-F5344CB8AC3E}">
        <p14:creationId xmlns:p14="http://schemas.microsoft.com/office/powerpoint/2010/main" val="1483760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"To sum up our tools: FGSM is simple and fast. PGD and MI-FGSM are iterative, taking 40 steps to systematically break down our network. As complexity goes up, so does the threat level."</a:t>
            </a:r>
          </a:p>
          <a:p>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10</a:t>
            </a:fld>
            <a:endParaRPr lang="en-US"/>
          </a:p>
        </p:txBody>
      </p:sp>
    </p:spTree>
    <p:extLst>
      <p:ext uri="{BB962C8B-B14F-4D97-AF65-F5344CB8AC3E}">
        <p14:creationId xmlns:p14="http://schemas.microsoft.com/office/powerpoint/2010/main" val="29746391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We measure how successful our attacks are using </a:t>
            </a:r>
            <a:r>
              <a:rPr lang="en-US" sz="1200" b="1" i="0" kern="1200" dirty="0">
                <a:solidFill>
                  <a:schemeClr val="tx1"/>
                </a:solidFill>
                <a:effectLst/>
                <a:latin typeface="+mn-lt"/>
                <a:ea typeface="+mn-ea"/>
                <a:cs typeface="+mn-cs"/>
              </a:rPr>
              <a:t>Attack Success Rate (ASR)</a:t>
            </a:r>
            <a:r>
              <a:rPr lang="en-US" sz="1200" b="0" i="0" kern="1200" dirty="0">
                <a:solidFill>
                  <a:schemeClr val="tx1"/>
                </a:solidFill>
                <a:effectLst/>
                <a:latin typeface="+mn-lt"/>
                <a:ea typeface="+mn-ea"/>
                <a:cs typeface="+mn-cs"/>
              </a:rPr>
              <a:t>. Basically, of the images the model originally got right, how many can we force it to get wrong?"</a:t>
            </a: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11</a:t>
            </a:fld>
            <a:endParaRPr lang="en-US"/>
          </a:p>
        </p:txBody>
      </p:sp>
    </p:spTree>
    <p:extLst>
      <p:ext uri="{BB962C8B-B14F-4D97-AF65-F5344CB8AC3E}">
        <p14:creationId xmlns:p14="http://schemas.microsoft.com/office/powerpoint/2010/main" val="2557964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Even with a tiny, barely visible epsilon of 0.1, the network starts to crack. FGSM gets an 18.2% success rate, but the iterative attacks immediately jump up to over 40% success."</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12</a:t>
            </a:fld>
            <a:endParaRPr lang="en-US"/>
          </a:p>
        </p:txBody>
      </p:sp>
    </p:spTree>
    <p:extLst>
      <p:ext uri="{BB962C8B-B14F-4D97-AF65-F5344CB8AC3E}">
        <p14:creationId xmlns:p14="http://schemas.microsoft.com/office/powerpoint/2010/main" val="42372319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"At an epsilon of 0.2, it's a massive failure. FGSM crosses 58%, while our two iterative attacks—PGD and Momentum FGSM—bypass our defenses over 94% of the time."</a:t>
            </a:r>
          </a:p>
          <a:p>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13</a:t>
            </a:fld>
            <a:endParaRPr lang="en-US"/>
          </a:p>
        </p:txBody>
      </p:sp>
    </p:spTree>
    <p:extLst>
      <p:ext uri="{BB962C8B-B14F-4D97-AF65-F5344CB8AC3E}">
        <p14:creationId xmlns:p14="http://schemas.microsoft.com/office/powerpoint/2010/main" val="1615746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b="0" i="0" kern="1200" dirty="0">
                <a:solidFill>
                  <a:schemeClr val="tx1"/>
                </a:solidFill>
                <a:effectLst/>
                <a:latin typeface="+mn-lt"/>
                <a:ea typeface="+mn-ea"/>
                <a:cs typeface="+mn-cs"/>
              </a:rPr>
              <a:t>"By the time we hit epsilon 0.3, the network is completely defeated. PGD and Momentum FGSM hit </a:t>
            </a:r>
            <a:r>
              <a:rPr lang="en-US" sz="1200" b="1" i="0" kern="1200" dirty="0">
                <a:solidFill>
                  <a:schemeClr val="tx1"/>
                </a:solidFill>
                <a:effectLst/>
                <a:latin typeface="+mn-lt"/>
                <a:ea typeface="+mn-ea"/>
                <a:cs typeface="+mn-cs"/>
              </a:rPr>
              <a:t>99.8% and 99.9% success rates</a:t>
            </a:r>
            <a:r>
              <a:rPr lang="en-US" sz="1200" b="0" i="0" kern="1200" dirty="0">
                <a:solidFill>
                  <a:schemeClr val="tx1"/>
                </a:solidFill>
                <a:effectLst/>
                <a:latin typeface="+mn-lt"/>
                <a:ea typeface="+mn-ea"/>
                <a:cs typeface="+mn-cs"/>
              </a:rPr>
              <a:t>. Our 98.85% baseline accuracy has been completely neutralized."</a:t>
            </a:r>
          </a:p>
          <a:p>
            <a:br>
              <a:rPr lang="en-US" dirty="0"/>
            </a:br>
            <a:endParaRPr lang="en-US" dirty="0"/>
          </a:p>
        </p:txBody>
      </p:sp>
      <p:sp>
        <p:nvSpPr>
          <p:cNvPr id="4" name="Slide Number Placeholder 3"/>
          <p:cNvSpPr>
            <a:spLocks noGrp="1"/>
          </p:cNvSpPr>
          <p:nvPr>
            <p:ph type="sldNum" sz="quarter" idx="5"/>
          </p:nvPr>
        </p:nvSpPr>
        <p:spPr/>
        <p:txBody>
          <a:bodyPr/>
          <a:lstStyle/>
          <a:p>
            <a:fld id="{9844D7FE-7A0B-8C45-BAEB-1159C74029F5}" type="slidenum">
              <a:rPr lang="en-US" smtClean="0"/>
              <a:t>14</a:t>
            </a:fld>
            <a:endParaRPr lang="en-US"/>
          </a:p>
        </p:txBody>
      </p:sp>
    </p:spTree>
    <p:extLst>
      <p:ext uri="{BB962C8B-B14F-4D97-AF65-F5344CB8AC3E}">
        <p14:creationId xmlns:p14="http://schemas.microsoft.com/office/powerpoint/2010/main" val="12400279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554</Words>
  <Application>Microsoft Macintosh PowerPoint</Application>
  <PresentationFormat>Custom</PresentationFormat>
  <Paragraphs>38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 Han</cp:lastModifiedBy>
  <cp:revision>3</cp:revision>
  <dcterms:created xsi:type="dcterms:W3CDTF">2006-08-16T00:00:00Z</dcterms:created>
  <dcterms:modified xsi:type="dcterms:W3CDTF">2026-08-22T20:55:35Z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44a753e-b937-4727-8173-58e965e4ef41_Enabled">
    <vt:lpwstr>true</vt:lpwstr>
  </property>
  <property fmtid="{D5CDD505-2E9C-101B-9397-08002B2CF9AE}" pid="3" name="MSIP_Label_444a753e-b937-4727-8173-58e965e4ef41_SetDate">
    <vt:lpwstr>2026-08-22T18:19:26Z</vt:lpwstr>
  </property>
  <property fmtid="{D5CDD505-2E9C-101B-9397-08002B2CF9AE}" pid="4" name="MSIP_Label_444a753e-b937-4727-8173-58e965e4ef41_Method">
    <vt:lpwstr>Standard</vt:lpwstr>
  </property>
  <property fmtid="{D5CDD505-2E9C-101B-9397-08002B2CF9AE}" pid="5" name="MSIP_Label_444a753e-b937-4727-8173-58e965e4ef41_Name">
    <vt:lpwstr>0a306a40-471c-426e-91d6-468476917b5e</vt:lpwstr>
  </property>
  <property fmtid="{D5CDD505-2E9C-101B-9397-08002B2CF9AE}" pid="6" name="MSIP_Label_444a753e-b937-4727-8173-58e965e4ef41_SiteId">
    <vt:lpwstr>3cbcc3d3-094d-4006-9849-0d11d61f484d</vt:lpwstr>
  </property>
  <property fmtid="{D5CDD505-2E9C-101B-9397-08002B2CF9AE}" pid="7" name="MSIP_Label_444a753e-b937-4727-8173-58e965e4ef41_ActionId">
    <vt:lpwstr>1f7b0dc1-5625-427e-804c-c9c257b06d73</vt:lpwstr>
  </property>
  <property fmtid="{D5CDD505-2E9C-101B-9397-08002B2CF9AE}" pid="8" name="MSIP_Label_444a753e-b937-4727-8173-58e965e4ef41_ContentBits">
    <vt:lpwstr>0</vt:lpwstr>
  </property>
  <property fmtid="{D5CDD505-2E9C-101B-9397-08002B2CF9AE}" pid="9" name="MSIP_Label_444a753e-b937-4727-8173-58e965e4ef41_Tag">
    <vt:lpwstr>50, 3, 0, 1</vt:lpwstr>
  </property>
</Properties>
</file>